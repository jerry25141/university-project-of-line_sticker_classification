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57" r:id="rId10"/>
    <p:sldId id="264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32C1E-0E83-4E42-A472-608FDA633D34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F1D8C-1436-49A7-8B5C-EEE8B7A470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725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F1D8C-1436-49A7-8B5C-EEE8B7A4700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674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D6181-EA90-450E-AB5F-E12B0E339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9413A4-9006-49EE-876D-DD2039D18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9AC192-42EC-46EE-BE67-86219837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6D8CB9-88EC-49B0-9E47-863C89288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E60F5A-50AD-4C55-8239-090DF54F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29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FC3696-D1E6-4A08-BA05-3F3A1E62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C6213F-B3A3-4241-A845-C466B6EF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6108C6-B21D-4B26-B756-FFA48D23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628E5D-D1B5-4B08-B3CE-3D3C5604C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7491FE-DA82-4B7C-B013-AB945138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34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C0F47-56E0-47B7-9B8F-06FF7785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D95843-302C-4FC4-99AB-CAD7074D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15A4C3-69DB-4BE9-BAF3-1985BEEF2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978D36-2D97-49FA-9326-95B0B07F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2592F0-68EB-4E16-BBFC-2CA704DD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522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4A71D-2760-4BDB-AA9E-4577AC24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5AA94-8008-426F-9B45-2BD96C3A9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EBD80D-B444-426C-A45C-4034E0F8C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24AD74-6E07-4557-9E1A-58AD08C0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6C590A-CE8A-4B8E-ADAB-5A220BC2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503A85-2E10-4161-897A-86DB5C44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84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8EDB96-1DD0-44E2-88B6-3E3C9609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82B383-186F-48BA-BB0B-E0FD5C6E0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44840F-BDC7-4DF0-BC7C-DC59CC9DE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3399FC-B505-43D5-9B71-5CD240536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13089D6-B411-44F1-8D5E-2980EDFEA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2585BA3-A011-426D-A251-D4C1D41F6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81A812-D409-4E03-B6D7-2A257A2B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CDE2F3-4E2B-43DE-8DCC-9AB284A7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36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23105E-5E5F-4DA8-AAC9-10BD8FAD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721F7FF-E1B7-435E-B7C8-8986C946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AE2799-91B1-420F-AD1D-D0CC1A8B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F0D991-958A-4A71-B205-D3D9A723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27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4A2C628-A7F0-4EC2-AF96-32DDC999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45A1C0B-7F35-4BE3-AAD1-C16A36983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A175DF-8DDD-4466-B852-48962F89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461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EC021A-77B1-41A6-91C2-79B279D9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6C4BD1-9748-4AEB-8F89-547E9DBB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8598A2-6189-4E86-8EAD-5A865F24D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5C25AB-2501-4163-A1CD-8DF6C434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54CFE6-78DA-4DEA-B4AB-12DB8B334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29C523-1053-42D6-AA40-EF79FEFC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9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EDD980-D948-4E73-A3E9-31A1D1FC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7379D2-0F23-408D-B3B1-FFEE08005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1689EB5-5CA0-4211-BF70-5683A5991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222D93-82A4-44B8-9EF5-31836FF88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F1A398-9E80-49EA-A5D0-AEC35C93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CBE0A3-3C67-415B-95F5-7BB3929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123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959FFA-74D3-4334-9972-D02CEE34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A2B40A-6A5C-4F5B-BAFC-3D038BA89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C703F1-2469-4527-A561-DDB6F8E33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6BAE1A-3426-428E-9C4D-A1CEEC4C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7562AD-7503-4A51-BF7D-A05C8903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871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D987CB2-2AE1-481D-A5D7-9540104BF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96A5C4-6DDC-4603-A674-5DB223A8D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94A0E9-745C-4C4E-A5E4-C0710962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79823D-7669-4396-8A5A-3725E636F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114EF6-3A33-4498-AB03-CDA12E77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77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6B643C2-D4F5-4A3B-84CA-79DE0EBB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99D2BA-9A29-4368-9785-B739D48CB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353A38-F993-4D79-B53A-19AFD3EBD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CE97E-C8D9-4406-ADD6-92E03DDCC59D}" type="datetimeFigureOut">
              <a:rPr lang="zh-TW" altLang="en-US" smtClean="0"/>
              <a:t>2021/1/17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3F0524-21F2-4DA4-876F-6CFE0394A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45BB83-854D-4AA4-9E9A-F79C7D4F6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7DD09-80D3-44C2-A994-23F6FE17FB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67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kaggle.com/olgabelitskaya/the-dataset-of-flower-imag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Q2Xwvda5w18LDdYlyn9tiwQJeVgi1kFk?usp=sharing" TargetMode="External"/><Relationship Id="rId2" Type="http://schemas.openxmlformats.org/officeDocument/2006/relationships/hyperlink" Target="https://github.com/jerry25141/line-sticker-download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olgabelitskaya/the-dataset-of-flower-imag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D3D850-2041-4B7C-AED9-54DA385B1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D5DFC5-85CD-4DB0-9549-D5AA3A1F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1481849" y="4022486"/>
            <a:ext cx="3655570" cy="2646427"/>
          </a:xfrm>
          <a:custGeom>
            <a:avLst/>
            <a:gdLst>
              <a:gd name="connsiteX0" fmla="*/ 0 w 2736866"/>
              <a:gd name="connsiteY0" fmla="*/ 0 h 1981337"/>
              <a:gd name="connsiteX1" fmla="*/ 2736866 w 2736866"/>
              <a:gd name="connsiteY1" fmla="*/ 0 h 1981337"/>
              <a:gd name="connsiteX2" fmla="*/ 2736866 w 2736866"/>
              <a:gd name="connsiteY2" fmla="*/ 1225808 h 1981337"/>
              <a:gd name="connsiteX3" fmla="*/ 1981337 w 2736866"/>
              <a:gd name="connsiteY3" fmla="*/ 1981337 h 198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6866" h="1981337">
                <a:moveTo>
                  <a:pt x="0" y="0"/>
                </a:moveTo>
                <a:lnTo>
                  <a:pt x="2736866" y="0"/>
                </a:lnTo>
                <a:lnTo>
                  <a:pt x="2736866" y="1225808"/>
                </a:lnTo>
                <a:lnTo>
                  <a:pt x="1981337" y="198133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9F2DF91-4956-4FED-AAF9-98B74CFED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91197" y="4070586"/>
            <a:ext cx="4070846" cy="4070846"/>
          </a:xfrm>
          <a:custGeom>
            <a:avLst/>
            <a:gdLst>
              <a:gd name="connsiteX0" fmla="*/ 0 w 4070846"/>
              <a:gd name="connsiteY0" fmla="*/ 0 h 4070846"/>
              <a:gd name="connsiteX1" fmla="*/ 4070846 w 4070846"/>
              <a:gd name="connsiteY1" fmla="*/ 0 h 4070846"/>
              <a:gd name="connsiteX2" fmla="*/ 4070846 w 4070846"/>
              <a:gd name="connsiteY2" fmla="*/ 1063476 h 4070846"/>
              <a:gd name="connsiteX3" fmla="*/ 1063476 w 4070846"/>
              <a:gd name="connsiteY3" fmla="*/ 4070846 h 4070846"/>
              <a:gd name="connsiteX4" fmla="*/ 0 w 4070846"/>
              <a:gd name="connsiteY4" fmla="*/ 4070846 h 407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0846" h="4070846">
                <a:moveTo>
                  <a:pt x="0" y="0"/>
                </a:moveTo>
                <a:lnTo>
                  <a:pt x="4070846" y="0"/>
                </a:lnTo>
                <a:lnTo>
                  <a:pt x="4070846" y="1063476"/>
                </a:lnTo>
                <a:lnTo>
                  <a:pt x="1063476" y="4070846"/>
                </a:lnTo>
                <a:lnTo>
                  <a:pt x="0" y="4070846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6AD2F9-C054-4FE3-A688-B43C21C5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933928" y="1372793"/>
            <a:ext cx="6135300" cy="5537781"/>
          </a:xfrm>
          <a:custGeom>
            <a:avLst/>
            <a:gdLst>
              <a:gd name="connsiteX0" fmla="*/ 0 w 6135300"/>
              <a:gd name="connsiteY0" fmla="*/ 0 h 5537781"/>
              <a:gd name="connsiteX1" fmla="*/ 6135300 w 6135300"/>
              <a:gd name="connsiteY1" fmla="*/ 0 h 5537781"/>
              <a:gd name="connsiteX2" fmla="*/ 6135300 w 6135300"/>
              <a:gd name="connsiteY2" fmla="*/ 3548931 h 5537781"/>
              <a:gd name="connsiteX3" fmla="*/ 4146451 w 6135300"/>
              <a:gd name="connsiteY3" fmla="*/ 5537781 h 5537781"/>
              <a:gd name="connsiteX4" fmla="*/ 0 w 6135300"/>
              <a:gd name="connsiteY4" fmla="*/ 1391331 h 5537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5537781">
                <a:moveTo>
                  <a:pt x="0" y="0"/>
                </a:moveTo>
                <a:lnTo>
                  <a:pt x="6135300" y="0"/>
                </a:lnTo>
                <a:lnTo>
                  <a:pt x="6135300" y="3548931"/>
                </a:lnTo>
                <a:lnTo>
                  <a:pt x="4146451" y="5537781"/>
                </a:lnTo>
                <a:lnTo>
                  <a:pt x="0" y="1391331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97CCB5-5FC2-473C-AFCC-2430CEF1D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409915" y="1742916"/>
            <a:ext cx="3372170" cy="3372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D203FA-9405-4E71-9D22-0D9ED95C7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1683736" y="1587573"/>
            <a:ext cx="1073226" cy="10732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C5A023F-D42B-416E-9B7C-ED7627B8C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8948" y="-1"/>
            <a:ext cx="5757046" cy="2878523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A51CA28-0F5E-4A7D-BEC3-F50C9EC0A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093" y="435016"/>
            <a:ext cx="2869396" cy="232653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6089147-BD84-4A64-8448-1369A11F7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80" y="4107274"/>
            <a:ext cx="2481640" cy="2326538"/>
          </a:xfrm>
          <a:prstGeom prst="rect">
            <a:avLst/>
          </a:prstGeom>
        </p:spPr>
      </p:pic>
      <p:sp>
        <p:nvSpPr>
          <p:cNvPr id="26" name="Frame 25">
            <a:extLst>
              <a:ext uri="{FF2B5EF4-FFF2-40B4-BE49-F238E27FC236}">
                <a16:creationId xmlns:a16="http://schemas.microsoft.com/office/drawing/2014/main" id="{D86ED005-A263-420F-9447-E00E3BF60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1277" y="1304278"/>
            <a:ext cx="4249446" cy="4249444"/>
          </a:xfrm>
          <a:prstGeom prst="frame">
            <a:avLst>
              <a:gd name="adj1" fmla="val 1195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89C4E9-B555-49CB-B098-69F4394E9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5528" y="4201466"/>
            <a:ext cx="2700944" cy="659993"/>
          </a:xfrm>
          <a:noFill/>
        </p:spPr>
        <p:txBody>
          <a:bodyPr>
            <a:normAutofit/>
          </a:bodyPr>
          <a:lstStyle/>
          <a:p>
            <a:r>
              <a:rPr lang="zh-TW" altLang="en-US" sz="1600">
                <a:solidFill>
                  <a:srgbClr val="080808"/>
                </a:solidFill>
              </a:rPr>
              <a:t>組員</a:t>
            </a:r>
            <a:r>
              <a:rPr lang="en-US" altLang="zh-TW" sz="1600">
                <a:solidFill>
                  <a:srgbClr val="080808"/>
                </a:solidFill>
              </a:rPr>
              <a:t>:</a:t>
            </a:r>
            <a:r>
              <a:rPr lang="zh-TW" altLang="en-US" sz="1600">
                <a:solidFill>
                  <a:srgbClr val="080808"/>
                </a:solidFill>
              </a:rPr>
              <a:t> 馬傑齡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DAB3747-E147-4613-A30F-87355D85B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16" y="2878523"/>
            <a:ext cx="4616811" cy="1345720"/>
          </a:xfrm>
          <a:noFill/>
        </p:spPr>
        <p:txBody>
          <a:bodyPr anchor="ctr">
            <a:normAutofit/>
          </a:bodyPr>
          <a:lstStyle/>
          <a:p>
            <a:r>
              <a:rPr lang="en-US" altLang="zh-TW" sz="4000" dirty="0">
                <a:solidFill>
                  <a:srgbClr val="080808"/>
                </a:solidFill>
              </a:rPr>
              <a:t>Line </a:t>
            </a:r>
            <a:r>
              <a:rPr lang="zh-TW" altLang="en-US" sz="4000" dirty="0">
                <a:solidFill>
                  <a:srgbClr val="080808"/>
                </a:solidFill>
              </a:rPr>
              <a:t>貼圖商店分類</a:t>
            </a:r>
            <a:br>
              <a:rPr lang="en-US" altLang="zh-TW" sz="4000" dirty="0">
                <a:solidFill>
                  <a:srgbClr val="080808"/>
                </a:solidFill>
              </a:rPr>
            </a:br>
            <a:r>
              <a:rPr lang="zh-TW" altLang="en-US" sz="3200" dirty="0">
                <a:solidFill>
                  <a:srgbClr val="080808"/>
                </a:solidFill>
              </a:rPr>
              <a:t>成果</a:t>
            </a:r>
            <a:endParaRPr lang="zh-TW" altLang="en-US" sz="40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55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A239AB-2392-48E0-84CE-B0957D033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762000"/>
            <a:ext cx="3352800" cy="2705100"/>
          </a:xfrm>
          <a:prstGeom prst="rect">
            <a:avLst/>
          </a:prstGeom>
        </p:spPr>
      </p:pic>
      <p:pic>
        <p:nvPicPr>
          <p:cNvPr id="7" name="圖片 6" descr="一張含有 向量圖形 的圖片&#10;&#10;自動產生的描述">
            <a:extLst>
              <a:ext uri="{FF2B5EF4-FFF2-40B4-BE49-F238E27FC236}">
                <a16:creationId xmlns:a16="http://schemas.microsoft.com/office/drawing/2014/main" id="{AB475EF6-1DE1-4D3B-A6D4-3BB651A31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300" y="762000"/>
            <a:ext cx="3771900" cy="27051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DB20ECE-EEC6-43C8-AAE1-37EB348819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530600"/>
            <a:ext cx="3124200" cy="25146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ED67055-79C1-4591-BD77-F42BA11328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3530600"/>
            <a:ext cx="2400300" cy="2514600"/>
          </a:xfrm>
          <a:prstGeom prst="rect">
            <a:avLst/>
          </a:prstGeom>
        </p:spPr>
      </p:pic>
      <p:pic>
        <p:nvPicPr>
          <p:cNvPr id="13" name="圖片 12" descr="一張含有 文字 的圖片&#10;&#10;自動產生的描述">
            <a:extLst>
              <a:ext uri="{FF2B5EF4-FFF2-40B4-BE49-F238E27FC236}">
                <a16:creationId xmlns:a16="http://schemas.microsoft.com/office/drawing/2014/main" id="{C9B52DDA-71DF-4B15-B497-2EA0F7888A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3530600"/>
            <a:ext cx="1524000" cy="2514600"/>
          </a:xfrm>
          <a:prstGeom prst="rect">
            <a:avLst/>
          </a:prstGeom>
        </p:spPr>
      </p:pic>
      <p:pic>
        <p:nvPicPr>
          <p:cNvPr id="19" name="圖片 18" descr="一張含有 文字, 輪子 的圖片&#10;&#10;自動產生的描述">
            <a:extLst>
              <a:ext uri="{FF2B5EF4-FFF2-40B4-BE49-F238E27FC236}">
                <a16:creationId xmlns:a16="http://schemas.microsoft.com/office/drawing/2014/main" id="{70EAAA48-A338-4339-8957-EA048D01A2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0" y="762000"/>
            <a:ext cx="1968500" cy="1689100"/>
          </a:xfrm>
          <a:prstGeom prst="rect">
            <a:avLst/>
          </a:prstGeom>
        </p:spPr>
      </p:pic>
      <p:pic>
        <p:nvPicPr>
          <p:cNvPr id="15" name="圖片 14" descr="一張含有 文字 的圖片&#10;&#10;自動產生的描述">
            <a:extLst>
              <a:ext uri="{FF2B5EF4-FFF2-40B4-BE49-F238E27FC236}">
                <a16:creationId xmlns:a16="http://schemas.microsoft.com/office/drawing/2014/main" id="{1A147EA7-B1E5-4F68-B8E3-7EF074E753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0" y="2514600"/>
            <a:ext cx="1968500" cy="1892300"/>
          </a:xfrm>
          <a:prstGeom prst="rect">
            <a:avLst/>
          </a:prstGeom>
        </p:spPr>
      </p:pic>
      <p:pic>
        <p:nvPicPr>
          <p:cNvPr id="9" name="圖片 8" descr="一張含有 文字 的圖片&#10;&#10;自動產生的描述">
            <a:extLst>
              <a:ext uri="{FF2B5EF4-FFF2-40B4-BE49-F238E27FC236}">
                <a16:creationId xmlns:a16="http://schemas.microsoft.com/office/drawing/2014/main" id="{C43DD5C6-BB02-4DD6-8AA3-F22F356FE1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0" y="4483100"/>
            <a:ext cx="1968500" cy="1574800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B29DC1D8-19C0-4E72-BDAE-FC05A8F0C4B4}"/>
              </a:ext>
            </a:extLst>
          </p:cNvPr>
          <p:cNvSpPr txBox="1"/>
          <p:nvPr/>
        </p:nvSpPr>
        <p:spPr>
          <a:xfrm>
            <a:off x="1424376" y="221446"/>
            <a:ext cx="177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r>
              <a:rPr lang="zh-TW" altLang="en-US" sz="2400" dirty="0">
                <a:highlight>
                  <a:srgbClr val="00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貓貓蟲咖波 </a:t>
            </a:r>
            <a:endParaRPr lang="en-US" altLang="zh-TW" sz="2400" dirty="0">
              <a:highlight>
                <a:srgbClr val="00FF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D6308FA-EB98-4E70-82BC-284630E341C2}"/>
              </a:ext>
            </a:extLst>
          </p:cNvPr>
          <p:cNvSpPr txBox="1"/>
          <p:nvPr/>
        </p:nvSpPr>
        <p:spPr>
          <a:xfrm>
            <a:off x="4892332" y="527897"/>
            <a:ext cx="2407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LINE&amp;FRIENDS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20C7245-84F4-4C73-B363-0DC91375D6F0}"/>
              </a:ext>
            </a:extLst>
          </p:cNvPr>
          <p:cNvSpPr txBox="1"/>
          <p:nvPr/>
        </p:nvSpPr>
        <p:spPr>
          <a:xfrm>
            <a:off x="6476147" y="6057900"/>
            <a:ext cx="114470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白爛貓</a:t>
            </a:r>
            <a:endParaRPr lang="en-US" altLang="zh-TW" sz="2400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sz="1400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1E2D900-D116-4CB5-852B-59EB0BE182B7}"/>
              </a:ext>
            </a:extLst>
          </p:cNvPr>
          <p:cNvSpPr txBox="1"/>
          <p:nvPr/>
        </p:nvSpPr>
        <p:spPr>
          <a:xfrm>
            <a:off x="4480669" y="5976160"/>
            <a:ext cx="1144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80008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茄子哥</a:t>
            </a:r>
            <a:endParaRPr lang="en-US" altLang="zh-TW" sz="2400" dirty="0">
              <a:solidFill>
                <a:schemeClr val="accent6">
                  <a:lumMod val="20000"/>
                  <a:lumOff val="80000"/>
                </a:schemeClr>
              </a:solidFill>
              <a:highlight>
                <a:srgbClr val="80008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600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80008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zh-TW" altLang="en-US" sz="1600" dirty="0">
              <a:solidFill>
                <a:schemeClr val="accent6">
                  <a:lumMod val="20000"/>
                  <a:lumOff val="80000"/>
                </a:schemeClr>
              </a:solidFill>
              <a:highlight>
                <a:srgbClr val="80008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9DD22B7-6905-4FFE-9322-F40A9D6ABCD9}"/>
              </a:ext>
            </a:extLst>
          </p:cNvPr>
          <p:cNvSpPr txBox="1"/>
          <p:nvPr/>
        </p:nvSpPr>
        <p:spPr>
          <a:xfrm>
            <a:off x="1739046" y="5928668"/>
            <a:ext cx="1144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highlight>
                  <a:srgbClr val="C0C0C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蜜桃貓</a:t>
            </a:r>
            <a:endParaRPr lang="en-US" altLang="zh-TW" sz="2400" dirty="0">
              <a:highlight>
                <a:srgbClr val="C0C0C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600" dirty="0">
                <a:highlight>
                  <a:srgbClr val="C0C0C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1600" dirty="0">
              <a:highlight>
                <a:srgbClr val="C0C0C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FFE50FA-BDD1-4F49-83B4-5BE2566B16DE}"/>
              </a:ext>
            </a:extLst>
          </p:cNvPr>
          <p:cNvSpPr txBox="1"/>
          <p:nvPr/>
        </p:nvSpPr>
        <p:spPr>
          <a:xfrm>
            <a:off x="9801776" y="1551245"/>
            <a:ext cx="21073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accent3">
                    <a:lumMod val="20000"/>
                    <a:lumOff val="80000"/>
                  </a:schemeClr>
                </a:solidFill>
                <a:highlight>
                  <a:srgbClr val="0000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</a:p>
          <a:p>
            <a:r>
              <a:rPr lang="zh-TW" alt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highlight>
                  <a:srgbClr val="0000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胖鯊魚鯊西米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64657956-612D-4E1D-95D8-41E1143E4A50}"/>
              </a:ext>
            </a:extLst>
          </p:cNvPr>
          <p:cNvSpPr txBox="1"/>
          <p:nvPr/>
        </p:nvSpPr>
        <p:spPr>
          <a:xfrm>
            <a:off x="9643346" y="3427603"/>
            <a:ext cx="15539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8080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Shiba </a:t>
            </a:r>
            <a:r>
              <a:rPr lang="en-US" altLang="zh-TW" sz="2400" dirty="0" err="1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8080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Inu</a:t>
            </a:r>
            <a:endParaRPr lang="en-US" altLang="zh-TW" sz="2400" dirty="0">
              <a:solidFill>
                <a:schemeClr val="accent4">
                  <a:lumMod val="20000"/>
                  <a:lumOff val="80000"/>
                </a:schemeClr>
              </a:solidFill>
              <a:highlight>
                <a:srgbClr val="8080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600" dirty="0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8080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sz="1600" dirty="0">
              <a:solidFill>
                <a:schemeClr val="accent4">
                  <a:lumMod val="20000"/>
                  <a:lumOff val="80000"/>
                </a:schemeClr>
              </a:solidFill>
              <a:highlight>
                <a:srgbClr val="8080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BC244FA-7F88-4D28-950C-52DBB599DC6B}"/>
              </a:ext>
            </a:extLst>
          </p:cNvPr>
          <p:cNvSpPr txBox="1"/>
          <p:nvPr/>
        </p:nvSpPr>
        <p:spPr>
          <a:xfrm>
            <a:off x="9764018" y="4950018"/>
            <a:ext cx="1433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highlight>
                  <a:srgbClr val="FF00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卡娜赫拉</a:t>
            </a:r>
            <a:endParaRPr lang="en-US" altLang="zh-TW" sz="2400" dirty="0">
              <a:solidFill>
                <a:schemeClr val="accent3">
                  <a:lumMod val="20000"/>
                  <a:lumOff val="80000"/>
                </a:schemeClr>
              </a:solidFill>
              <a:highlight>
                <a:srgbClr val="FF00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600" dirty="0">
                <a:solidFill>
                  <a:schemeClr val="accent3">
                    <a:lumMod val="20000"/>
                    <a:lumOff val="80000"/>
                  </a:schemeClr>
                </a:solidFill>
                <a:highlight>
                  <a:srgbClr val="FF00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1600" dirty="0">
              <a:solidFill>
                <a:schemeClr val="accent3">
                  <a:lumMod val="20000"/>
                  <a:lumOff val="80000"/>
                </a:schemeClr>
              </a:solidFill>
              <a:highlight>
                <a:srgbClr val="FF00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374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AA60A-02BD-42F9-AADA-5A9C5AA5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類神經</a:t>
            </a:r>
            <a:r>
              <a:rPr lang="en-US" altLang="zh-TW" dirty="0"/>
              <a:t>Code</a:t>
            </a:r>
            <a:r>
              <a:rPr lang="zh-TW" altLang="en-US" dirty="0"/>
              <a:t> 出處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F3CE45-F422-4A99-9342-F6F5FB5B2E0B}"/>
              </a:ext>
            </a:extLst>
          </p:cNvPr>
          <p:cNvSpPr/>
          <p:nvPr/>
        </p:nvSpPr>
        <p:spPr>
          <a:xfrm>
            <a:off x="3211492" y="1429078"/>
            <a:ext cx="57690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hlinkClick r:id="rId2"/>
              </a:rPr>
              <a:t>The Dataset of Flower Images | Kaggle</a:t>
            </a:r>
            <a:endParaRPr lang="zh-TW" altLang="en-US" sz="2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67ECE9-9E71-4B97-B682-AA62BFFD58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5" t="8942" r="1131" b="2515"/>
          <a:stretch/>
        </p:blipFill>
        <p:spPr>
          <a:xfrm>
            <a:off x="2403950" y="2136107"/>
            <a:ext cx="7384099" cy="42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47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5947BD-1974-4BB7-9763-D303C22F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自製爬蟲抓取 </a:t>
            </a:r>
            <a:r>
              <a:rPr lang="en-US" altLang="zh-TW" dirty="0"/>
              <a:t>LINE</a:t>
            </a:r>
            <a:r>
              <a:rPr lang="zh-TW" altLang="en-US" dirty="0"/>
              <a:t> </a:t>
            </a:r>
            <a:r>
              <a:rPr lang="en-US" altLang="zh-TW" dirty="0"/>
              <a:t>STORE</a:t>
            </a:r>
            <a:r>
              <a:rPr lang="zh-TW" altLang="en-US" dirty="0"/>
              <a:t> 上的貼圖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9DC6BB-7FC5-4C22-900C-460670F3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629" y="1395537"/>
            <a:ext cx="7814741" cy="498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2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9C5812-3C3D-438B-AF16-0190B18F4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2.labels </a:t>
            </a:r>
            <a:r>
              <a:rPr lang="zh-TW" altLang="en-US" dirty="0"/>
              <a:t>與 圖片 </a:t>
            </a:r>
            <a:r>
              <a:rPr lang="en-US" altLang="zh-TW" dirty="0"/>
              <a:t>Input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EEED49-B0E3-4EE9-ADC3-CAAAC9CC3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362" y="1643063"/>
            <a:ext cx="962032" cy="387670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7943C0E-7CA3-41B8-ABE0-55788D0D8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656" y="1738313"/>
            <a:ext cx="847731" cy="378145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2A718F-A095-4B18-BE0E-E585F97B1C82}"/>
              </a:ext>
            </a:extLst>
          </p:cNvPr>
          <p:cNvSpPr/>
          <p:nvPr/>
        </p:nvSpPr>
        <p:spPr>
          <a:xfrm>
            <a:off x="550939" y="3076844"/>
            <a:ext cx="23839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Input = </a:t>
            </a:r>
            <a:endParaRPr lang="zh-TW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B35398-4893-404C-9A20-F35950604FA4}"/>
              </a:ext>
            </a:extLst>
          </p:cNvPr>
          <p:cNvSpPr/>
          <p:nvPr/>
        </p:nvSpPr>
        <p:spPr>
          <a:xfrm>
            <a:off x="6170431" y="3076844"/>
            <a:ext cx="5293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+</a:t>
            </a:r>
            <a:endParaRPr lang="zh-TW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6FB9DE1-D9AC-4EB4-BA5D-AC03B8935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863" y="1027906"/>
            <a:ext cx="1477356" cy="529202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1BB7770-A990-4878-AEAC-46BA33964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7809" y="1089613"/>
            <a:ext cx="1509086" cy="523179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D6CAE2B-C79C-480B-8B9B-23A5568B9EDC}"/>
              </a:ext>
            </a:extLst>
          </p:cNvPr>
          <p:cNvSpPr/>
          <p:nvPr/>
        </p:nvSpPr>
        <p:spPr>
          <a:xfrm>
            <a:off x="6669937" y="3246120"/>
            <a:ext cx="184522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labels.csv</a:t>
            </a:r>
            <a:endParaRPr lang="zh-TW" altLang="en-US" sz="32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36DA6E-DB5F-41A9-A36E-8B1040AA0B7A}"/>
              </a:ext>
            </a:extLst>
          </p:cNvPr>
          <p:cNvSpPr/>
          <p:nvPr/>
        </p:nvSpPr>
        <p:spPr>
          <a:xfrm>
            <a:off x="2882514" y="3246121"/>
            <a:ext cx="145584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stickers</a:t>
            </a:r>
            <a:endParaRPr lang="zh-TW" altLang="en-US" sz="32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2167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1DFC919E-4228-4917-AE2F-8768E0460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959" y="2687623"/>
            <a:ext cx="3286389" cy="3514855"/>
          </a:xfrm>
          <a:prstGeom prst="rect">
            <a:avLst/>
          </a:prstGeom>
        </p:spPr>
      </p:pic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D4C19E6B-2CC6-4385-8990-07B189C35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76" y="2687623"/>
            <a:ext cx="3981980" cy="2817250"/>
          </a:xfrm>
          <a:prstGeom prst="rect">
            <a:avLst/>
          </a:prstGeom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B14A3E3F-55AA-434B-B221-14EBCC9CA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674" y="2687623"/>
            <a:ext cx="3797536" cy="2392447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7AE113D2-A714-4B63-8987-FA8E5EC4D20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3.MLP &amp; CNN &amp; RNN </a:t>
            </a:r>
            <a:r>
              <a:rPr lang="zh-TW" altLang="en-US" dirty="0"/>
              <a:t>網路訓練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F2628B7-24B6-4451-8436-033677D1C62F}"/>
              </a:ext>
            </a:extLst>
          </p:cNvPr>
          <p:cNvSpPr txBox="1"/>
          <p:nvPr/>
        </p:nvSpPr>
        <p:spPr>
          <a:xfrm>
            <a:off x="1102866" y="2318291"/>
            <a:ext cx="19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多層感知器（</a:t>
            </a:r>
            <a:r>
              <a:rPr lang="en-US" altLang="zh-TW" b="0" i="0" dirty="0">
                <a:solidFill>
                  <a:srgbClr val="3D3D3D"/>
                </a:solidFill>
                <a:effectLst/>
                <a:latin typeface="-apple-system"/>
              </a:rPr>
              <a:t>MLP</a:t>
            </a:r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）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DC68BBA-E885-4058-9071-0D656C09342F}"/>
              </a:ext>
            </a:extLst>
          </p:cNvPr>
          <p:cNvSpPr txBox="1"/>
          <p:nvPr/>
        </p:nvSpPr>
        <p:spPr>
          <a:xfrm>
            <a:off x="4976154" y="2322900"/>
            <a:ext cx="22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卷積神經網絡（</a:t>
            </a:r>
            <a:r>
              <a:rPr lang="en-US" altLang="zh-TW" b="0" i="0" dirty="0">
                <a:solidFill>
                  <a:srgbClr val="3D3D3D"/>
                </a:solidFill>
                <a:effectLst/>
                <a:latin typeface="-apple-system"/>
              </a:rPr>
              <a:t>CNN</a:t>
            </a:r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）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896A3A3-E593-496E-92AD-7C53AB58A60E}"/>
              </a:ext>
            </a:extLst>
          </p:cNvPr>
          <p:cNvSpPr txBox="1"/>
          <p:nvPr/>
        </p:nvSpPr>
        <p:spPr>
          <a:xfrm>
            <a:off x="9101442" y="2318291"/>
            <a:ext cx="223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遞歸神經網絡（</a:t>
            </a:r>
            <a:r>
              <a:rPr lang="en-US" altLang="zh-TW" b="0" i="0" dirty="0">
                <a:solidFill>
                  <a:srgbClr val="3D3D3D"/>
                </a:solidFill>
                <a:effectLst/>
                <a:latin typeface="-apple-system"/>
              </a:rPr>
              <a:t>RNN</a:t>
            </a:r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2539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6E8E19F2-B95F-41F5-B747-238074F500E0}"/>
              </a:ext>
            </a:extLst>
          </p:cNvPr>
          <p:cNvGrpSpPr/>
          <p:nvPr/>
        </p:nvGrpSpPr>
        <p:grpSpPr>
          <a:xfrm>
            <a:off x="4032257" y="1668937"/>
            <a:ext cx="3692231" cy="4750336"/>
            <a:chOff x="462853" y="1862620"/>
            <a:chExt cx="3260027" cy="443818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B6D98C48-4212-425E-8BD2-5847A9FD8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853" y="2785950"/>
              <a:ext cx="3260027" cy="3514855"/>
            </a:xfrm>
            <a:prstGeom prst="rect">
              <a:avLst/>
            </a:prstGeom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17B5B83-598D-4D5D-96C2-9C216752C33D}"/>
                </a:ext>
              </a:extLst>
            </p:cNvPr>
            <p:cNvSpPr txBox="1"/>
            <p:nvPr/>
          </p:nvSpPr>
          <p:spPr>
            <a:xfrm>
              <a:off x="1079437" y="1862620"/>
              <a:ext cx="22660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CNN</a:t>
              </a:r>
            </a:p>
            <a:p>
              <a:r>
                <a:rPr lang="en-US" altLang="zh-TW" dirty="0"/>
                <a:t>loss	 = 0.1781</a:t>
              </a:r>
            </a:p>
            <a:p>
              <a:r>
                <a:rPr lang="en-US" altLang="zh-TW" dirty="0"/>
                <a:t>accuracy	 = 0.9705</a:t>
              </a:r>
              <a:endParaRPr lang="zh-TW" altLang="en-US" dirty="0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A67422AF-7933-4F45-AF43-CF885179A8C7}"/>
              </a:ext>
            </a:extLst>
          </p:cNvPr>
          <p:cNvGrpSpPr/>
          <p:nvPr/>
        </p:nvGrpSpPr>
        <p:grpSpPr>
          <a:xfrm>
            <a:off x="7893478" y="1617086"/>
            <a:ext cx="3723396" cy="4802187"/>
            <a:chOff x="4448959" y="1862620"/>
            <a:chExt cx="3286389" cy="4438185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0E4D6D42-32CA-455D-94E9-1F4565EB9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8959" y="2785950"/>
              <a:ext cx="3286389" cy="3514855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C34B2880-1B57-420E-8BEF-1BF1FBCD86AB}"/>
                </a:ext>
              </a:extLst>
            </p:cNvPr>
            <p:cNvSpPr txBox="1"/>
            <p:nvPr/>
          </p:nvSpPr>
          <p:spPr>
            <a:xfrm>
              <a:off x="5125844" y="1862620"/>
              <a:ext cx="22660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err="1"/>
                <a:t>RNN</a:t>
              </a:r>
              <a:endParaRPr lang="en-US" altLang="zh-TW" dirty="0"/>
            </a:p>
            <a:p>
              <a:r>
                <a:rPr lang="en-US" altLang="zh-TW" dirty="0"/>
                <a:t>loss	 = 1.2973</a:t>
              </a:r>
            </a:p>
            <a:p>
              <a:r>
                <a:rPr lang="en-US" altLang="zh-TW" dirty="0"/>
                <a:t>accuracy	 = 0.5514</a:t>
              </a:r>
              <a:endParaRPr lang="zh-TW" altLang="en-US" dirty="0"/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9C4D9DE-599D-4162-A440-E6651F57DBC9}"/>
              </a:ext>
            </a:extLst>
          </p:cNvPr>
          <p:cNvGrpSpPr/>
          <p:nvPr/>
        </p:nvGrpSpPr>
        <p:grpSpPr>
          <a:xfrm>
            <a:off x="368368" y="1617086"/>
            <a:ext cx="3614024" cy="4728585"/>
            <a:chOff x="8417491" y="1862620"/>
            <a:chExt cx="3347899" cy="4438185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8E229084-82BB-4B6F-A6F8-79765A1AFB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965"/>
            <a:stretch/>
          </p:blipFill>
          <p:spPr>
            <a:xfrm>
              <a:off x="8417491" y="2855031"/>
              <a:ext cx="3347899" cy="3445774"/>
            </a:xfrm>
            <a:prstGeom prst="rect">
              <a:avLst/>
            </a:prstGeom>
          </p:spPr>
        </p:pic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AB1180-8EF8-435B-BC5D-6ED81FC08D43}"/>
                </a:ext>
              </a:extLst>
            </p:cNvPr>
            <p:cNvSpPr txBox="1"/>
            <p:nvPr/>
          </p:nvSpPr>
          <p:spPr>
            <a:xfrm>
              <a:off x="9050599" y="1862620"/>
              <a:ext cx="22660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err="1"/>
                <a:t>MLP</a:t>
              </a:r>
              <a:endParaRPr lang="en-US" altLang="zh-TW" dirty="0"/>
            </a:p>
            <a:p>
              <a:r>
                <a:rPr lang="en-US" altLang="zh-TW" dirty="0"/>
                <a:t>loss	 = 1.8014</a:t>
              </a:r>
            </a:p>
            <a:p>
              <a:r>
                <a:rPr lang="en-US" altLang="zh-TW" dirty="0"/>
                <a:t>accuracy	 = 0.647</a:t>
              </a:r>
              <a:endParaRPr lang="zh-TW" altLang="en-US" dirty="0"/>
            </a:p>
          </p:txBody>
        </p:sp>
      </p:grpSp>
      <p:sp>
        <p:nvSpPr>
          <p:cNvPr id="12" name="標題 1">
            <a:extLst>
              <a:ext uri="{FF2B5EF4-FFF2-40B4-BE49-F238E27FC236}">
                <a16:creationId xmlns:a16="http://schemas.microsoft.com/office/drawing/2014/main" id="{47751E25-5B23-4BF6-8FD7-8C7A44308FA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0000"/>
                </a:solidFill>
                <a:latin typeface="Calibri Light" panose="020F0302020204030204" pitchFamily="34" charset="0"/>
                <a:ea typeface="新細明體" panose="02020500000000000000" pitchFamily="18" charset="-120"/>
              </a:rPr>
              <a:t>4</a:t>
            </a:r>
            <a:r>
              <a:rPr lang="en-US" altLang="zh-TW" sz="44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新細明體" panose="02020500000000000000" pitchFamily="18" charset="-120"/>
                <a:cs typeface="+mj-cs"/>
              </a:rPr>
              <a:t>.</a:t>
            </a:r>
            <a:r>
              <a:rPr lang="zh-TW" altLang="zh-TW" sz="44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新細明體" panose="02020500000000000000" pitchFamily="18" charset="-120"/>
                <a:cs typeface="+mj-cs"/>
              </a:rPr>
              <a:t>訓練曲線比較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1064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A031C2-A91E-4662-A96D-AE34E71D8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78" y="1875493"/>
            <a:ext cx="5130297" cy="471173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933B251-6600-46AB-AB57-16411696A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179" y="1760293"/>
            <a:ext cx="5343617" cy="48741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D484BF1-2E66-4F6A-8796-2B1AB8F53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預測結果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F0798F9-762F-46BD-BF84-A289D9BD164B}"/>
              </a:ext>
            </a:extLst>
          </p:cNvPr>
          <p:cNvSpPr txBox="1"/>
          <p:nvPr/>
        </p:nvSpPr>
        <p:spPr>
          <a:xfrm>
            <a:off x="7072218" y="1175518"/>
            <a:ext cx="3689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3200" dirty="0" err="1">
                <a:solidFill>
                  <a:srgbClr val="3D3D3D"/>
                </a:solidFill>
                <a:latin typeface="-apple-system"/>
              </a:rPr>
              <a:t>ImageDataGenerator</a:t>
            </a:r>
            <a:endParaRPr lang="zh-TW" altLang="en-US" sz="3200" b="0" i="0" dirty="0">
              <a:solidFill>
                <a:srgbClr val="3D3D3D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01659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C6A56-E0BC-4FDC-B97A-1BF5943F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zh-TW" altLang="en-US" sz="4000" dirty="0"/>
              <a:t>不同神經網路分析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B246C46-B8BE-424C-AD82-71CE214A2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992"/>
            <a:ext cx="10515600" cy="4351338"/>
          </a:xfrm>
        </p:spPr>
        <p:txBody>
          <a:bodyPr>
            <a:normAutofit/>
          </a:bodyPr>
          <a:lstStyle/>
          <a:p>
            <a:endParaRPr lang="en-US" altLang="zh-TW" b="1" i="0" dirty="0">
              <a:solidFill>
                <a:srgbClr val="3D3D3D"/>
              </a:solidFill>
              <a:effectLst/>
              <a:latin typeface="-apple-system"/>
            </a:endParaRPr>
          </a:p>
          <a:p>
            <a:r>
              <a:rPr lang="en-US" altLang="zh-TW" b="1" i="0" dirty="0">
                <a:solidFill>
                  <a:srgbClr val="3D3D3D"/>
                </a:solidFill>
                <a:effectLst/>
                <a:latin typeface="-apple-system"/>
              </a:rPr>
              <a:t>MLP</a:t>
            </a:r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適用於</a:t>
            </a:r>
            <a:r>
              <a:rPr lang="zh-TW" altLang="en-US" i="0" u="sng" dirty="0">
                <a:solidFill>
                  <a:srgbClr val="3D3D3D"/>
                </a:solidFill>
                <a:effectLst/>
                <a:latin typeface="-apple-system"/>
              </a:rPr>
              <a:t>分類預測</a:t>
            </a:r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問題，其輸入被分配一個</a:t>
            </a:r>
            <a:r>
              <a:rPr lang="zh-TW" altLang="en-US" b="1" i="0" dirty="0">
                <a:solidFill>
                  <a:srgbClr val="3D3D3D"/>
                </a:solidFill>
                <a:effectLst/>
                <a:latin typeface="-apple-system"/>
              </a:rPr>
              <a:t>類</a:t>
            </a:r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或</a:t>
            </a:r>
            <a:r>
              <a:rPr lang="zh-TW" altLang="en-US" b="1" i="0" dirty="0">
                <a:solidFill>
                  <a:srgbClr val="3D3D3D"/>
                </a:solidFill>
                <a:effectLst/>
                <a:latin typeface="-apple-system"/>
              </a:rPr>
              <a:t>標籤</a:t>
            </a:r>
            <a:endParaRPr lang="en-US" altLang="zh-TW" b="1" dirty="0">
              <a:solidFill>
                <a:srgbClr val="3D3D3D"/>
              </a:solidFill>
              <a:latin typeface="-apple-system"/>
            </a:endParaRPr>
          </a:p>
          <a:p>
            <a:endParaRPr lang="en-US" altLang="zh-TW" b="0" i="0" dirty="0">
              <a:solidFill>
                <a:srgbClr val="3D3D3D"/>
              </a:solidFill>
              <a:effectLst/>
              <a:latin typeface="-apple-system"/>
            </a:endParaRPr>
          </a:p>
          <a:p>
            <a:r>
              <a:rPr lang="en-US" altLang="zh-TW" b="1" dirty="0">
                <a:solidFill>
                  <a:srgbClr val="3D3D3D"/>
                </a:solidFill>
                <a:latin typeface="-apple-system"/>
              </a:rPr>
              <a:t>CNN</a:t>
            </a:r>
            <a:r>
              <a:rPr lang="zh-TW" altLang="en-US" dirty="0">
                <a:solidFill>
                  <a:srgbClr val="3D3D3D"/>
                </a:solidFill>
                <a:latin typeface="-apple-system"/>
              </a:rPr>
              <a:t>能夠很好地處理具有空間關係的數據，適合使用在以圖片為輸入的訓練集</a:t>
            </a:r>
            <a:endParaRPr lang="en-US" altLang="zh-TW" dirty="0">
              <a:solidFill>
                <a:srgbClr val="3D3D3D"/>
              </a:solidFill>
              <a:latin typeface="-apple-system"/>
            </a:endParaRPr>
          </a:p>
          <a:p>
            <a:endParaRPr lang="en-US" altLang="zh-TW" b="1" dirty="0">
              <a:solidFill>
                <a:srgbClr val="3D3D3D"/>
              </a:solidFill>
              <a:latin typeface="-apple-system"/>
            </a:endParaRPr>
          </a:p>
          <a:p>
            <a:r>
              <a:rPr lang="en-US" altLang="zh-TW" b="1" dirty="0">
                <a:solidFill>
                  <a:srgbClr val="3D3D3D"/>
                </a:solidFill>
                <a:latin typeface="-apple-system"/>
              </a:rPr>
              <a:t>RNN</a:t>
            </a:r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與長短期記憶網絡（</a:t>
            </a:r>
            <a:r>
              <a:rPr lang="en-US" altLang="zh-TW" b="0" i="0" dirty="0">
                <a:solidFill>
                  <a:srgbClr val="3D3D3D"/>
                </a:solidFill>
                <a:effectLst/>
                <a:latin typeface="-apple-system"/>
              </a:rPr>
              <a:t>LSTM</a:t>
            </a:r>
            <a:r>
              <a:rPr lang="zh-TW" altLang="en-US" b="0" i="0" dirty="0">
                <a:solidFill>
                  <a:srgbClr val="3D3D3D"/>
                </a:solidFill>
                <a:effectLst/>
                <a:latin typeface="-apple-system"/>
              </a:rPr>
              <a:t>），一般用於自然語言處理</a:t>
            </a:r>
            <a:endParaRPr lang="en-US" altLang="zh-TW" dirty="0">
              <a:solidFill>
                <a:srgbClr val="3D3D3D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2259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D1A62E-9261-411D-8882-714A5791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1791F1-E70C-4456-AC81-B3E5152F0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自製爬蟲</a:t>
            </a:r>
            <a:br>
              <a:rPr lang="en-US" altLang="zh-TW" dirty="0"/>
            </a:br>
            <a:r>
              <a:rPr lang="en-US" altLang="zh-TW" dirty="0">
                <a:hlinkClick r:id="rId2"/>
              </a:rPr>
              <a:t>https://github.com/jerry25141/line-sticker-downloader</a:t>
            </a:r>
            <a:endParaRPr lang="en-US" altLang="zh-TW" dirty="0"/>
          </a:p>
          <a:p>
            <a:r>
              <a:rPr lang="en-US" altLang="zh-TW" dirty="0" err="1"/>
              <a:t>Colab</a:t>
            </a:r>
            <a:br>
              <a:rPr lang="en-US" altLang="zh-TW" dirty="0"/>
            </a:br>
            <a:r>
              <a:rPr lang="en-US" altLang="zh-TW" dirty="0">
                <a:hlinkClick r:id="rId3"/>
              </a:rPr>
              <a:t>https://colab.research.google.com/drive/1Q2Xwvda5w18LDdYlyn9tiwQJeVgi1kFk?usp=sharing</a:t>
            </a:r>
            <a:endParaRPr lang="en-US" altLang="zh-TW" dirty="0"/>
          </a:p>
          <a:p>
            <a:r>
              <a:rPr lang="en-US" altLang="zh-TW" dirty="0"/>
              <a:t>Kaggle</a:t>
            </a:r>
            <a:r>
              <a:rPr lang="zh-TW" altLang="en-US" dirty="0"/>
              <a:t> 作者 </a:t>
            </a:r>
            <a:r>
              <a:rPr lang="en-US" altLang="zh-TW"/>
              <a:t>Notebook</a:t>
            </a:r>
            <a:br>
              <a:rPr lang="en-US" altLang="zh-TW"/>
            </a:br>
            <a:r>
              <a:rPr lang="en-US" altLang="zh-TW">
                <a:hlinkClick r:id="rId4"/>
              </a:rPr>
              <a:t>https://www.kaggle.com/olgabelitskaya/the-dataset-of-flower-images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760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b="0" i="0" dirty="0">
            <a:solidFill>
              <a:srgbClr val="3D3D3D"/>
            </a:solidFill>
            <a:effectLst/>
            <a:latin typeface="-apple-system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258</Words>
  <Application>Microsoft Office PowerPoint</Application>
  <PresentationFormat>寬螢幕</PresentationFormat>
  <Paragraphs>54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-apple-system</vt:lpstr>
      <vt:lpstr>微軟正黑體</vt:lpstr>
      <vt:lpstr>Arial</vt:lpstr>
      <vt:lpstr>Calibri</vt:lpstr>
      <vt:lpstr>Calibri Light</vt:lpstr>
      <vt:lpstr>Office 佈景主題</vt:lpstr>
      <vt:lpstr>Line 貼圖商店分類 成果</vt:lpstr>
      <vt:lpstr>PowerPoint 簡報</vt:lpstr>
      <vt:lpstr>類神經Code 出處</vt:lpstr>
      <vt:lpstr>1.自製爬蟲抓取 LINE STORE 上的貼圖</vt:lpstr>
      <vt:lpstr>2.labels 與 圖片 Input</vt:lpstr>
      <vt:lpstr>PowerPoint 簡報</vt:lpstr>
      <vt:lpstr>PowerPoint 簡報</vt:lpstr>
      <vt:lpstr>預測結果</vt:lpstr>
      <vt:lpstr>不同神經網路分析</vt:lpstr>
      <vt:lpstr>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 貼圖商店分類 成果</dc:title>
  <dc:creator>傑齡</dc:creator>
  <cp:lastModifiedBy>傑齡</cp:lastModifiedBy>
  <cp:revision>2</cp:revision>
  <dcterms:created xsi:type="dcterms:W3CDTF">2021-01-17T14:08:40Z</dcterms:created>
  <dcterms:modified xsi:type="dcterms:W3CDTF">2021-01-17T14:18:00Z</dcterms:modified>
</cp:coreProperties>
</file>